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ED8"/>
    <a:srgbClr val="1680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08"/>
    <p:restoredTop sz="94675"/>
  </p:normalViewPr>
  <p:slideViewPr>
    <p:cSldViewPr snapToGrid="0" snapToObjects="1">
      <p:cViewPr varScale="1">
        <p:scale>
          <a:sx n="121" d="100"/>
          <a:sy n="121" d="100"/>
        </p:scale>
        <p:origin x="200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651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78608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93C5FD"/>
                </a:solidFill>
              </a:rPr>
              <a:t>APPLIED MACHINE LEARNING  ·  COURSE PROJECT  ·  SECTION D  ·  TEAM T112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59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Automatic Clothing Category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10725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>
                <a:solidFill>
                  <a:srgbClr val="E2E8F0"/>
                </a:solidFill>
              </a:rPr>
              <a:t>Inventory Tagging via Handcrafted Features and a Small Convolutional Neural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D4ED8"/>
                </a:solidFill>
              </a:rPr>
              <a:t>PROJECT TEAM OWNERSHIP &amp; CORE RESPONSIBILITIES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200400"/>
          <a:ext cx="1072591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Team Member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GitHub Handle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Core Responsibility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Primary 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Anant Jain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@anantjain-afk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Data Ingestion, Splitting &amp; Master Benchmark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src/aml/data.py, evaluation.py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Kartik Mehra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@KartikMehra22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Feature Engineering: Pixels &amp; HOG Descriptors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src/aml/features.py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Krishna Gehlot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@NSTKrishna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Model 1: Multinomial Logistic 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src/aml/models/logreg.py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Vipul Sharma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@vs-code06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Model 2: k-Nearest Neighbors &amp; Latency Scaling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src/aml/models/knn.py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Aditya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@AdityaInnovates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Model 3: Random Forest Classifier &amp; Trees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src/aml/models/random_forest.py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  <a:latin typeface="Calibri"/>
                        </a:rPr>
                        <a:t>Utkarsh Jain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75569"/>
                          </a:solidFill>
                          <a:latin typeface="Calibri"/>
                        </a:rPr>
                        <a:t>@UJ474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Model 4: Linear SVM &amp; Garment Error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src/aml/models/svm.py, error_analysis.py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Project Motivation &amp; Research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The Retail Inventory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High-Volume Retail: Catalogs process thousands of incoming garment images daily.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Structural Garments: Footwear and Trousers have distinct outlines → easily tagged (&gt;93%).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Upper-Body Tops: Shirts, T-shirts, Pullovers, and Coats share broad torso mass → severe confusion.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48920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Why Benchmark Classical ML First?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4617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Establishes an audited, interpretable performance baseline before introducing deep learning.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Isolates whether classification failures stem from model capacity or feature representation limits.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Identifies 'The Gap' with mathematical precision to define clear success targets for Phase 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Two-Phase Research Approach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371600"/>
            <a:ext cx="5468112" cy="2057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46304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Phase 1: Applied ML Baseline (Completed)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00784"/>
            <a:ext cx="489204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783080"/>
            <a:ext cx="5193792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Benchmark 4 classical model families: LogReg, k-NN, Random Forest, Linear SVM.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Evaluate 2 feature representations: Raw Pixels (784-d) vs. HOG Gradients (324-d).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8 fully audited configurations evaluated under strict zero-leakage protocol.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Empirically proves that handcrafted visual descriptors hit a performance ceiling.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611880"/>
            <a:ext cx="5468112" cy="2057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37033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5803D"/>
                </a:solidFill>
                <a:latin typeface="Calibri"/>
              </a:rPr>
              <a:t>Phase 2: Small CNN (Next Milestone)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941064"/>
            <a:ext cx="489204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4023360"/>
            <a:ext cx="5193792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Lightweight Convolutional Neural Network operating directly on 2D image topology.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3×3 receptive fields preserve spatial pixel adjacency (lost in vector flattening).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Translation equivariance via weight sharing to consistently detect collars and seams.</a:t>
            </a:r>
          </a:p>
          <a:p>
            <a:pPr>
              <a:spcAft>
                <a:spcPts val="6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Quantitative targets: Lift Shirt recall to ≥ 80.0% and overall Macro F1 to ≥ 91.0%.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Dataset, Exploratory Data Analysis &amp; Evaluation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Fashion-MNIST Benchmark &amp; EDA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70,000 images (28×28 grayscale) across 10 balanced categories (7,000 images each).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Class Balance (EDA): Perfect uniform distribution eliminates class frequency bias.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Silhouettes (EDA): Footwear/Trousers form distinct outlines; tops share identical torso mass.</a:t>
            </a:r>
          </a:p>
          <a:p>
            <a:pPr>
              <a:spcAft>
                <a:spcPts val="5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Pixel Variance (EDA): Variance concentrates on outer sleeve contours, hemlines, and collars.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266" y="3086346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D4ED8"/>
                </a:solidFill>
                <a:latin typeface="Calibri"/>
              </a:rPr>
              <a:t>Strict 3-Way Split (Zero Test Leakage)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266" y="3339969"/>
            <a:ext cx="489204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655903"/>
              </p:ext>
            </p:extLst>
          </p:nvPr>
        </p:nvGraphicFramePr>
        <p:xfrm>
          <a:off x="731266" y="3376545"/>
          <a:ext cx="48920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Partition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Training 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48,000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Model parameter fitting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Validation Set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12,000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Stratified hyperparameter tuning (seed 42)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Test 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0F172A"/>
                          </a:solidFill>
                        </a:rPr>
                        <a:t>Official held-out test split, evaluated strictly ONCE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139" y="4800599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D4ED8"/>
                </a:solidFill>
                <a:latin typeface="Calibri"/>
              </a:rPr>
              <a:t>Standardized Evaluation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266" y="5056631"/>
            <a:ext cx="48920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Accuracy &amp; Macro F1: Treats all 10 classes with equal 10% weight.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Per-Class Recall: Catches single-category failures (e.g. Shirts) hidden by accuracy.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Inference Latency: Median ms/image measured over 1,000 test queries.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EDA Visualizations: Mean Archetypes &amp; PCA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419856"/>
            <a:ext cx="546811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 dirty="0">
                <a:solidFill>
                  <a:srgbClr val="475569"/>
                </a:solidFill>
              </a:rPr>
              <a:t>Fig 1a: Class Mean (Top) vs. Pixel</a:t>
            </a:r>
            <a:r>
              <a:rPr lang="en-US" sz="950" i="1" dirty="0">
                <a:solidFill>
                  <a:srgbClr val="475569"/>
                </a:solidFill>
              </a:rPr>
              <a:t> Standard deviation </a:t>
            </a:r>
            <a:r>
              <a:rPr sz="950" i="1" dirty="0">
                <a:solidFill>
                  <a:srgbClr val="475569"/>
                </a:solidFill>
              </a:rPr>
              <a:t>(Bottom) across all 10 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6108505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 dirty="0">
                <a:solidFill>
                  <a:srgbClr val="475569"/>
                </a:solidFill>
              </a:rPr>
              <a:t>Fig 1b: 2D PCA projection — isolated footwear clusters vs. heavily overlapping tops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F78BD9-2DC4-92EC-B228-86781E264080}"/>
              </a:ext>
            </a:extLst>
          </p:cNvPr>
          <p:cNvSpPr txBox="1"/>
          <p:nvPr/>
        </p:nvSpPr>
        <p:spPr>
          <a:xfrm>
            <a:off x="7180072" y="5852289"/>
            <a:ext cx="4480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90% was not reached within 50 components</a:t>
            </a:r>
          </a:p>
        </p:txBody>
      </p:sp>
      <p:pic>
        <p:nvPicPr>
          <p:cNvPr id="7" name="Picture 6" descr="class_mean_and_variance.png">
            <a:extLst>
              <a:ext uri="{FF2B5EF4-FFF2-40B4-BE49-F238E27FC236}">
                <a16:creationId xmlns:a16="http://schemas.microsoft.com/office/drawing/2014/main" id="{E32FD9DC-E853-926D-0F77-ED507974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371600"/>
            <a:ext cx="5468112" cy="1695752"/>
          </a:xfrm>
          <a:prstGeom prst="rect">
            <a:avLst/>
          </a:prstGeom>
        </p:spPr>
      </p:pic>
      <p:pic>
        <p:nvPicPr>
          <p:cNvPr id="13" name="Picture 12" descr="pca_2d_projection.png">
            <a:extLst>
              <a:ext uri="{FF2B5EF4-FFF2-40B4-BE49-F238E27FC236}">
                <a16:creationId xmlns:a16="http://schemas.microsoft.com/office/drawing/2014/main" id="{8C94AEC4-77EF-BE88-1D5B-A0749F91B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763965"/>
            <a:ext cx="5468112" cy="20732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Feature Engineering: Raw Pixels (784-d) vs. HOG (324-d)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1. Raw Flattened Pixels (784-d)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Normalized float32 pixel values in [0.0, 1.0].</a:t>
            </a: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Zero compute cost; preserves raw contrast.</a:t>
            </a: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Destroys 2D layout; zero translation invariance.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2. HOG Descriptors (324-d)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9 orientation bins, 7×7 px cells, 2×2 blocks.</a:t>
            </a: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58.7% dimensionality reduction (784 → 324).</a:t>
            </a:r>
          </a:p>
          <a:p>
            <a:pPr>
              <a:spcAft>
                <a:spcPts val="5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Captures edge gradients along garment perimeters.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48920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91C1C"/>
                </a:solidFill>
                <a:latin typeface="Calibri"/>
              </a:rPr>
              <a:t>Why HOG Fails Upper-Body 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46177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Structured Items (Trousers, Boots): Sharp 90°/0° gradient peaks → HOG excels.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Tops (Shirt, T-shirt, Pullover): Diffuse, isotropic gradients in all directions.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Cell Pooling Limit: 7×7 cell averaging erases the 1–2 px collar tips needed to separate shirts.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Empirical Gradient Energy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70001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2: HOG orientation profiles across categories — sharp peaks vs. diffuse tops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983480"/>
            <a:ext cx="1761744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25896" y="5038344"/>
            <a:ext cx="168859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DIM REDUCTION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-58.7%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42504" y="4983480"/>
            <a:ext cx="1761744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79080" y="5038344"/>
            <a:ext cx="168859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K-NN SPEEDUP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+64.2%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5688" y="4983480"/>
            <a:ext cx="1761744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32264" y="5038344"/>
            <a:ext cx="168859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 GAIN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None (Trapped)</a:t>
            </a:r>
          </a:p>
        </p:txBody>
      </p:sp>
      <p:pic>
        <p:nvPicPr>
          <p:cNvPr id="7" name="Picture 6" descr="hog_orientation_profiles.png">
            <a:extLst>
              <a:ext uri="{FF2B5EF4-FFF2-40B4-BE49-F238E27FC236}">
                <a16:creationId xmlns:a16="http://schemas.microsoft.com/office/drawing/2014/main" id="{4958B414-F168-F969-100C-43E337D6D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554480"/>
            <a:ext cx="5468112" cy="2562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Model 1: Multinomial 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Architecture &amp;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Softmax multinomial cross-entropy (L-BFGS solver).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StandardScaler normalizes input feature coordinates.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Grid search across C in {0.1, 1.0, 10.0}; winner: C = 1.0.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Test-Set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8895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PIXELS (784-D)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84.32% Acc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7390" y="28346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3966" y="28895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84.24%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260" y="28346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836" y="28895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57.1%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9130" y="28346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5706" y="28895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0.0007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204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35753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HOG (324-D)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84.55% Acc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7390" y="35204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3966" y="35753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84.49%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3260" y="35204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59836" y="35753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57.8%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9130" y="352044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5706" y="357530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5803D"/>
                </a:solidFill>
              </a:rPr>
              <a:t>0.0004 ms 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97680"/>
            <a:ext cx="489204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3891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Weight Space Interpretability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709160"/>
            <a:ext cx="4617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28×28 reshaped weights reveal intuitive class templates.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Positive weights (Red): outline silhouettes (trouser legs, straps).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Negative weights (Blue): suppress conflicting regions (necklines).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Limitation: Hyperplanes cannot separate overlapping torso shapes.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Learned Weight Heatmaps &amp; Recall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1985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3a: Learned 28×28 weight templates (Red: positive, Blue: inhibitory)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6339112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 dirty="0">
                <a:solidFill>
                  <a:srgbClr val="475569"/>
                </a:solidFill>
              </a:rPr>
              <a:t>Fig 3b: Per-class recall — footwear (&gt;93%) vs. depressed shirt recall (57%)</a:t>
            </a:r>
          </a:p>
        </p:txBody>
      </p:sp>
      <p:pic>
        <p:nvPicPr>
          <p:cNvPr id="7" name="Picture 6" descr="pixel_weight_heatmaps.png">
            <a:extLst>
              <a:ext uri="{FF2B5EF4-FFF2-40B4-BE49-F238E27FC236}">
                <a16:creationId xmlns:a16="http://schemas.microsoft.com/office/drawing/2014/main" id="{C10FE3DA-BE31-2168-1E61-861DD17F4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14594"/>
            <a:ext cx="5468112" cy="1925691"/>
          </a:xfrm>
          <a:prstGeom prst="rect">
            <a:avLst/>
          </a:prstGeom>
        </p:spPr>
      </p:pic>
      <p:pic>
        <p:nvPicPr>
          <p:cNvPr id="10" name="Picture 9" descr="per_class_recall.png">
            <a:extLst>
              <a:ext uri="{FF2B5EF4-FFF2-40B4-BE49-F238E27FC236}">
                <a16:creationId xmlns:a16="http://schemas.microsoft.com/office/drawing/2014/main" id="{E8D7932F-B302-9416-DEBD-13BA64AEC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466" y="3749040"/>
            <a:ext cx="3095818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Model 2: k-Nearest Neighbors (k-NN)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Architecture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Instance-based learner using Euclidean (L2) distance.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Brute force (algorithm='brute'): avoids tree breakdown.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Batched inference (batch_size=500): avoids 4.8 GB RAM crash.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Winners: k=7, distance (Pixels) | k=5, distance (HOG).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Test-Set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PIXELS (784-D)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85.41% Acc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739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396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85.40%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26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83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60.2%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913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570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B91C1C"/>
                </a:solidFill>
              </a:rPr>
              <a:t>0.274 ms 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HOG (324-D)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83.84% Acc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739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396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83.85%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326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5983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5803D"/>
                </a:solidFill>
              </a:rPr>
              <a:t>62.6% 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913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570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0.098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34840"/>
            <a:ext cx="48920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262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Computational Scaling Discoveries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46320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64.2% Latency Speedup: HOG cuts distance math (0.274 → 0.098 ms).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58.7% Memory Savings: Stored RAM drops from 179.4 to 74.2 MiB.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Production Bottleneck: 450× slower than Linear SVM (infeasible for live catalogs).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Empirical Scaling &amp; Parameter Tuning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1985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4a: Inference latency scaling across batch sizes (log scale)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588873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4b: Validation Macro F1 across neighbor count k and weighting</a:t>
            </a:r>
          </a:p>
        </p:txBody>
      </p:sp>
      <p:pic>
        <p:nvPicPr>
          <p:cNvPr id="7" name="Picture 6" descr="latency_comparison.png">
            <a:extLst>
              <a:ext uri="{FF2B5EF4-FFF2-40B4-BE49-F238E27FC236}">
                <a16:creationId xmlns:a16="http://schemas.microsoft.com/office/drawing/2014/main" id="{AF278ABA-9E75-B202-5B6B-51A5D9D9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00991"/>
            <a:ext cx="5468112" cy="1952897"/>
          </a:xfrm>
          <a:prstGeom prst="rect">
            <a:avLst/>
          </a:prstGeom>
        </p:spPr>
      </p:pic>
      <p:pic>
        <p:nvPicPr>
          <p:cNvPr id="10" name="Picture 9" descr="knn_tuning_comparison.png">
            <a:extLst>
              <a:ext uri="{FF2B5EF4-FFF2-40B4-BE49-F238E27FC236}">
                <a16:creationId xmlns:a16="http://schemas.microsoft.com/office/drawing/2014/main" id="{87614EF8-D1D8-7953-B1CD-FA8A0A33B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749040"/>
            <a:ext cx="5468112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Model 3: Random Forest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Architecture &amp;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200-tree ensemble with Gini impurity splits.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Grid search: n_estimators in {50, 100, 200} × depth in {10, 20, None}.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Winner on Pixels: 200 trees, depth=20 (regularized).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Phase 1 Benchmark Winner: 87.43% Test Accuracy (87.31% F1).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Test-Set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PIXELS (784-D)</a:t>
            </a:r>
          </a:p>
          <a:p>
            <a:pPr algn="ctr"/>
            <a:r>
              <a:rPr sz="1300" b="1">
                <a:solidFill>
                  <a:srgbClr val="15803D"/>
                </a:solidFill>
              </a:rPr>
              <a:t>87.43% Acc 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739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396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5803D"/>
                </a:solidFill>
              </a:rPr>
              <a:t>87.31% 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26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83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59.3%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913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570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0.026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HOG (324-D)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84.35% Acc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739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396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84.30%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326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5983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59.4%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913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570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0.029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34840"/>
            <a:ext cx="48920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262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Overfitting Dynamics &amp; Feature Importance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46320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Unrestricted depth memorizes 100% of training data, but val F1 plateaus.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Trees prefer sharp pixel coordinates; HOG averaging hurts (-3.1%).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0F172A"/>
                </a:solidFill>
                <a:latin typeface="Calibri"/>
              </a:rPr>
              <a:t>•  Splits focus on outer boundaries; inner collar details get zero splits.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Overfitting Curves &amp; Gini Importance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41985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5a: Training vs. Validation accuracy across tree depths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588873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5b: Gini feature importance showing split focus on outer boundaries</a:t>
            </a:r>
          </a:p>
        </p:txBody>
      </p:sp>
      <p:pic>
        <p:nvPicPr>
          <p:cNvPr id="7" name="Picture 6" descr="overfitting_curves.png">
            <a:extLst>
              <a:ext uri="{FF2B5EF4-FFF2-40B4-BE49-F238E27FC236}">
                <a16:creationId xmlns:a16="http://schemas.microsoft.com/office/drawing/2014/main" id="{F0119D26-F5F7-3AC1-1067-C4246A2F2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041" y="1371600"/>
            <a:ext cx="4934668" cy="2011680"/>
          </a:xfrm>
          <a:prstGeom prst="rect">
            <a:avLst/>
          </a:prstGeom>
        </p:spPr>
      </p:pic>
      <p:pic>
        <p:nvPicPr>
          <p:cNvPr id="10" name="Picture 9" descr="pixel_importance_heatmap.png">
            <a:extLst>
              <a:ext uri="{FF2B5EF4-FFF2-40B4-BE49-F238E27FC236}">
                <a16:creationId xmlns:a16="http://schemas.microsoft.com/office/drawing/2014/main" id="{9150FB11-9712-D5E1-A588-0468A426E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117" y="3749040"/>
            <a:ext cx="2488516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Model 4: Linear Support Vector Machine (Linear SVM)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Architecture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LinearSVC optimizing squared-hinge loss with L2 regularization.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One-vs-Rest (OvR): 10 independent binary hyperplanes.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StandardScaler(with_mean=False) preserves feature sparsity.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Winner: C = 0.1 on Pixels | C = 1.0 on HOG.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Test-Set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35224"/>
            <a:ext cx="489204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PIXELS (784-D)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83.80% Acc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739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396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83.57%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26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83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B91C1C"/>
                </a:solidFill>
              </a:rPr>
              <a:t>50.7% 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9130" y="29718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5706" y="30266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0.0013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HOG (324-D)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84.23% Acc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739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396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MACRO F1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84.06%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326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59836" y="3712464"/>
            <a:ext cx="108127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</a:rPr>
              <a:t>SHIRT RECALL</a:t>
            </a:r>
          </a:p>
          <a:p>
            <a:pPr algn="ctr"/>
            <a:r>
              <a:rPr sz="1300" b="1">
                <a:solidFill>
                  <a:srgbClr val="1D4ED8"/>
                </a:solidFill>
              </a:rPr>
              <a:t>54.6%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9130" y="3657600"/>
            <a:ext cx="115443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5706" y="3712464"/>
            <a:ext cx="1081278" cy="330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dirty="0">
                <a:solidFill>
                  <a:srgbClr val="475569"/>
                </a:solidFill>
              </a:rPr>
              <a:t>LATENCY</a:t>
            </a:r>
          </a:p>
          <a:p>
            <a:pPr algn="ctr"/>
            <a:r>
              <a:rPr sz="1300" b="1" dirty="0">
                <a:solidFill>
                  <a:srgbClr val="1C4ED8"/>
                </a:solidFill>
              </a:rPr>
              <a:t>0.0006 </a:t>
            </a:r>
            <a:r>
              <a:rPr sz="1300" b="1" dirty="0" err="1">
                <a:solidFill>
                  <a:srgbClr val="1C4ED8"/>
                </a:solidFill>
              </a:rPr>
              <a:t>ms</a:t>
            </a:r>
            <a:endParaRPr sz="1300" b="1" dirty="0">
              <a:solidFill>
                <a:srgbClr val="1C4ED8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1520" y="4434840"/>
            <a:ext cx="48920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5262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Speed vs. The Margin Ceiling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46320"/>
            <a:ext cx="461772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Fast Model: 0.000</a:t>
            </a:r>
            <a:r>
              <a:rPr lang="en-US" sz="1100" dirty="0">
                <a:solidFill>
                  <a:srgbClr val="0F172A"/>
                </a:solidFill>
                <a:latin typeface="Calibri"/>
              </a:rPr>
              <a:t>6</a:t>
            </a:r>
            <a:r>
              <a:rPr sz="1100" dirty="0">
                <a:solidFill>
                  <a:srgbClr val="0F172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F172A"/>
                </a:solidFill>
                <a:latin typeface="Calibri"/>
              </a:rPr>
              <a:t>ms</a:t>
            </a:r>
            <a:r>
              <a:rPr sz="1100" dirty="0">
                <a:solidFill>
                  <a:srgbClr val="0F172A"/>
                </a:solidFill>
                <a:latin typeface="Calibri"/>
              </a:rPr>
              <a:t>/image (450× faster than k-NN, 43× faster than RF).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Compact: Only 3,250 weights on HOG and 7,850 weights on Pixels.</a:t>
            </a:r>
          </a:p>
          <a:p>
            <a:pPr>
              <a:spcAft>
                <a:spcPts val="300"/>
              </a:spcAft>
            </a:pPr>
            <a:r>
              <a:rPr sz="1100" dirty="0">
                <a:solidFill>
                  <a:srgbClr val="0F172A"/>
                </a:solidFill>
                <a:latin typeface="Calibri"/>
              </a:rPr>
              <a:t>•  Margin Ceiling: Flat hyperplanes drop Shirt recall to benchmark low (50.7%).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Linear SVM Test Confusion Matrix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561441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6: Full 10×10 confusion matrix on held-out test set (SVM on Pixels)</a:t>
            </a:r>
          </a:p>
        </p:txBody>
      </p:sp>
      <p:pic>
        <p:nvPicPr>
          <p:cNvPr id="7" name="Picture 6" descr="svm_pixels_confusion_matrix.png">
            <a:extLst>
              <a:ext uri="{FF2B5EF4-FFF2-40B4-BE49-F238E27FC236}">
                <a16:creationId xmlns:a16="http://schemas.microsoft.com/office/drawing/2014/main" id="{F0311048-F2FB-60ED-CEFC-668775BBC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156" y="1371600"/>
            <a:ext cx="4766439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Master AML Benchmark: 8 Configurations Compared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66298"/>
              </p:ext>
            </p:extLst>
          </p:nvPr>
        </p:nvGraphicFramePr>
        <p:xfrm>
          <a:off x="731520" y="1097280"/>
          <a:ext cx="107259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 Family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Feature Space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Test 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Shirt 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Inference Latency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 Complexity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Pixels (784)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803D"/>
                          </a:solidFill>
                        </a:rPr>
                        <a:t>87.43% 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803D"/>
                          </a:solidFill>
                        </a:rPr>
                        <a:t>87.31% 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59.3%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0.026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1,693,570 tree nodes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HOG (324)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84.30%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59.4%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0.029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2,458,016 tree nodes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k-NN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Pixels (784)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85.41%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85.40%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60.2%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B91C1C"/>
                          </a:solidFill>
                        </a:rPr>
                        <a:t>0.274 ms 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179.44 MiB (RAM)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k-NN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HOG (324)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83.84%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83.85%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5803D"/>
                          </a:solidFill>
                        </a:rPr>
                        <a:t>62.6% 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0.098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74.16 MiB (RAM)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Pixels (784)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84.32%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84.24%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57.1%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0.0007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7,850 weights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HOG (324)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84.55%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84.49%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57.8%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dirty="0">
                          <a:solidFill>
                            <a:srgbClr val="16803C"/>
                          </a:solidFill>
                        </a:rPr>
                        <a:t>0.0004 </a:t>
                      </a:r>
                      <a:r>
                        <a:rPr sz="950" b="1" dirty="0" err="1">
                          <a:solidFill>
                            <a:srgbClr val="16803C"/>
                          </a:solidFill>
                        </a:rPr>
                        <a:t>ms</a:t>
                      </a:r>
                      <a:r>
                        <a:rPr lang="en-US" sz="950" b="1" dirty="0">
                          <a:solidFill>
                            <a:srgbClr val="16803C"/>
                          </a:solidFill>
                        </a:rPr>
                        <a:t> </a:t>
                      </a:r>
                      <a:r>
                        <a:rPr lang="en-IN" sz="950" b="1" dirty="0">
                          <a:solidFill>
                            <a:srgbClr val="15803D"/>
                          </a:solidFill>
                        </a:rPr>
                        <a:t>★</a:t>
                      </a:r>
                      <a:endParaRPr sz="950" dirty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3,250 weights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Linear SVM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Pixels (784)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83.80%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83.57%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B91C1C"/>
                          </a:solidFill>
                        </a:rPr>
                        <a:t>50.7% 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>
                          <a:solidFill>
                            <a:srgbClr val="0F172A"/>
                          </a:solidFill>
                        </a:rPr>
                        <a:t>0.0013 </a:t>
                      </a:r>
                      <a:r>
                        <a:rPr sz="950" dirty="0" err="1">
                          <a:solidFill>
                            <a:srgbClr val="0F172A"/>
                          </a:solidFill>
                        </a:rPr>
                        <a:t>ms</a:t>
                      </a:r>
                      <a:endParaRPr sz="950" dirty="0">
                        <a:solidFill>
                          <a:srgbClr val="0F172A"/>
                        </a:solidFill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7,850 weights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D4ED8"/>
                          </a:solidFill>
                        </a:rPr>
                        <a:t>Linear SVM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HOG (324)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84.23%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84.06%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F172A"/>
                          </a:solidFill>
                        </a:rPr>
                        <a:t>54.6%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chemeClr val="tx1"/>
                          </a:solidFill>
                        </a:rPr>
                        <a:t>0.0006 </a:t>
                      </a:r>
                      <a:r>
                        <a:rPr sz="950" b="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endParaRPr sz="9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>
                          <a:solidFill>
                            <a:srgbClr val="0F172A"/>
                          </a:solidFill>
                        </a:rPr>
                        <a:t>3,250 weights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4297680"/>
            <a:ext cx="3453384" cy="1508760"/>
          </a:xfrm>
          <a:prstGeom prst="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4389120"/>
            <a:ext cx="3233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D4ED8"/>
                </a:solidFill>
              </a:rPr>
              <a:t>Accuracy Ceiling (87.4%)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663440"/>
            <a:ext cx="32339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All 4 models plateau between 83.8% and 87.4%.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Adding 2.4M tree parameters yields &lt;3.1% gain.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784" y="4297680"/>
            <a:ext cx="3453384" cy="1508760"/>
          </a:xfrm>
          <a:prstGeom prst="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77512" y="4389120"/>
            <a:ext cx="3233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D4ED8"/>
                </a:solidFill>
              </a:rPr>
              <a:t>Latency vs. Memory Trade-Off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512" y="4663440"/>
            <a:ext cx="32339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Linear models infer in 0.0006 ms with tiny storage.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k-NN is 450× slower and keeps 179 MiB in RAM.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4048" y="4297680"/>
            <a:ext cx="3453384" cy="1508760"/>
          </a:xfrm>
          <a:prstGeom prst="rect">
            <a:avLst/>
          </a:prstGeom>
          <a:solidFill>
            <a:srgbClr val="F1F5F9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3776" y="4389120"/>
            <a:ext cx="3233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B91C1C"/>
                </a:solidFill>
              </a:rPr>
              <a:t>Universal Shirt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3776" y="4663440"/>
            <a:ext cx="32339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All 8 models trapped at 50.7%–62.6% Shirt recall.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Proves feature representation is the true bottleneck.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Error Analysis: "The Gap" &amp; Upper-Body Confusion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4892040" cy="777240"/>
          </a:xfrm>
          <a:prstGeom prst="rect">
            <a:avLst/>
          </a:prstGeom>
          <a:solidFill>
            <a:srgbClr val="F1F5F9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124712"/>
            <a:ext cx="4672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B91C1C"/>
                </a:solidFill>
              </a:rPr>
              <a:t>THE 35-PERCENTAGE-POINT RECALL CHASM</a:t>
            </a:r>
          </a:p>
          <a:p>
            <a:r>
              <a:rPr sz="1000">
                <a:solidFill>
                  <a:srgbClr val="0F172A"/>
                </a:solidFill>
              </a:rPr>
              <a:t>Trousers, Bags &amp; Shoes reach 93%–97% recall.
Shirts collapse to 50.7%–62.6% across all 8 configurations.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Where Do Misclassified Shirts Go?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9424"/>
            <a:ext cx="489204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286000"/>
          <a:ext cx="48920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Confusion Path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Error Rate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Underlying Cause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1C1C"/>
                          </a:solidFill>
                        </a:rPr>
                        <a:t>Shirt → T-shirt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13.1% – 16.6%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Lacks collar height at 28×28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1C1C"/>
                          </a:solidFill>
                        </a:rPr>
                        <a:t>Shirt → Pullover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8.2% – 14.2%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Shares torso and sleeve mass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1C1C"/>
                          </a:solidFill>
                        </a:rPr>
                        <a:t>Shirt → Coat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7.5% – 11.4%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Dark plackets mimic open lapels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1C1C"/>
                          </a:solidFill>
                        </a:rPr>
                        <a:t>Pullover → Coat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D4ED8"/>
                          </a:solidFill>
                        </a:rPr>
                        <a:t>8.4% – 16.8%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F172A"/>
                          </a:solidFill>
                        </a:rPr>
                        <a:t>Cardigans mirror coat fronts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3977640"/>
            <a:ext cx="489204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06908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Why Handcrafted Features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89120"/>
            <a:ext cx="467258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Upper-Body Confusion: 32% to 41% of shirts are mistaken for other tops.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Physical Resolution: Collar tips span only 1–2 pixels at 28×28.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Torso Dominance: Broad torso mass drowns out subtle collar signals.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•  Cell Pooling: 7×7 HOG pooling smooths away fine edge transitions.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05156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Empirical Confusion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41985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7a: Upper-body 4×4 confusion matrix (SVM on raw pixels)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705856"/>
            <a:ext cx="5468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i="1">
                <a:solidFill>
                  <a:srgbClr val="475569"/>
                </a:solidFill>
              </a:rPr>
              <a:t>Fig 7b: Shirt instances consistently misclassified as T-shirts</a:t>
            </a:r>
          </a:p>
        </p:txBody>
      </p:sp>
      <p:pic>
        <p:nvPicPr>
          <p:cNvPr id="13" name="Picture 12" descr="svm_pixels_upper_body_confusion.png">
            <a:extLst>
              <a:ext uri="{FF2B5EF4-FFF2-40B4-BE49-F238E27FC236}">
                <a16:creationId xmlns:a16="http://schemas.microsoft.com/office/drawing/2014/main" id="{E9FB4FC6-0F81-4705-5732-E55C02700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757" y="1371600"/>
            <a:ext cx="2421236" cy="2011680"/>
          </a:xfrm>
          <a:prstGeom prst="rect">
            <a:avLst/>
          </a:prstGeom>
        </p:spPr>
      </p:pic>
      <p:pic>
        <p:nvPicPr>
          <p:cNvPr id="16" name="Picture 15" descr="svm_pixels_6_as_0_gallery.png">
            <a:extLst>
              <a:ext uri="{FF2B5EF4-FFF2-40B4-BE49-F238E27FC236}">
                <a16:creationId xmlns:a16="http://schemas.microsoft.com/office/drawing/2014/main" id="{7C22C0D9-E487-08AA-E90B-647110DC2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955260"/>
            <a:ext cx="5468112" cy="14163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alibri"/>
              </a:rPr>
              <a:t>IMAGE-TAGGING AML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Calibri"/>
              </a:rPr>
              <a:t>Phase 2 CNN Bridge &amp; Quantitative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4892040" cy="1920240"/>
          </a:xfrm>
          <a:prstGeom prst="rect">
            <a:avLst/>
          </a:prstGeom>
          <a:solidFill>
            <a:srgbClr val="F1F5F9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14300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B91C1C"/>
                </a:solidFill>
                <a:latin typeface="Calibri"/>
              </a:rPr>
              <a:t>Phase 1 Handcrafted Ceiling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4672584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Vector Flattening destroys 2D spatial pixel adjacency.</a:t>
            </a:r>
          </a:p>
          <a:p>
            <a:pPr>
              <a:spcAft>
                <a:spcPts val="6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HOG 7×7 cell pooling smooths away 1–2 px collar tips.</a:t>
            </a:r>
          </a:p>
          <a:p>
            <a:pPr>
              <a:spcAft>
                <a:spcPts val="600"/>
              </a:spcAft>
            </a:pPr>
            <a:r>
              <a:rPr sz="1150" dirty="0">
                <a:solidFill>
                  <a:srgbClr val="0F172A"/>
                </a:solidFill>
                <a:latin typeface="Calibri"/>
              </a:rPr>
              <a:t>•  Linear hyperplanes &amp; trees cannot separate overlapping torsos.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07024" y="1074420"/>
            <a:ext cx="5468112" cy="1920240"/>
          </a:xfrm>
          <a:prstGeom prst="rect">
            <a:avLst/>
          </a:prstGeom>
          <a:solidFill>
            <a:srgbClr val="F1F5F9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4412" y="114071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15803D"/>
                </a:solidFill>
                <a:latin typeface="Calibri"/>
              </a:rPr>
              <a:t>Phase 2 CNN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1463040"/>
            <a:ext cx="5193792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3×3 Receptive Fields preserve 2D local spatial adjacency.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Weight Sharing detects collars consistently across the canvas.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F172A"/>
                </a:solidFill>
                <a:latin typeface="Calibri"/>
              </a:rPr>
              <a:t>•  Learns hierarchical features (edges → textures → collars).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725912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Calibri"/>
              </a:rPr>
              <a:t>Auditable Phase 2 Quantitative Success Criteria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611880"/>
            <a:ext cx="3453384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685032"/>
            <a:ext cx="32705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75569"/>
                </a:solidFill>
              </a:rPr>
              <a:t>TARGET 1: SHIRT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04488"/>
            <a:ext cx="32705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≥ 80.0%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25112"/>
            <a:ext cx="32705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Elevate Shirt recall from 50.7%–62.6% up to ≥ 80.0%, closing the 35% gap.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5216" y="3611880"/>
            <a:ext cx="3453384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6656" y="3685032"/>
            <a:ext cx="32705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75569"/>
                </a:solidFill>
              </a:rPr>
              <a:t>TARGET 2: UPPER-BODY CONFUSION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6656" y="3904488"/>
            <a:ext cx="32705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&lt; 15.0%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6656" y="4325112"/>
            <a:ext cx="32705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Cut Shirt misclassification into T-shirts/Pullovers from 32%–41% to &lt; 15.0%.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1752" y="3611880"/>
            <a:ext cx="3453384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13192" y="3685032"/>
            <a:ext cx="32705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75569"/>
                </a:solidFill>
              </a:rPr>
              <a:t>TARGET 3: OVERALL MACRO 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3192" y="3904488"/>
            <a:ext cx="32705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5803D"/>
                </a:solidFill>
              </a:rPr>
              <a:t>≥ 91.0%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3192" y="4325112"/>
            <a:ext cx="32705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F172A"/>
                </a:solidFill>
              </a:rPr>
              <a:t>Lift overall test Macro F1 from 87.3% to ≥ 91.0% on the exact same 10k test split.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120640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1D4ED8"/>
                </a:solidFill>
              </a:rPr>
              <a:t>Key Takeaway: The performance bottleneck lies in handcrafted visual features, not classifier capacity. Phase 2 leverages spatial convolutions to learn optimal filters directly from image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2195</Words>
  <Application>Microsoft Macintosh PowerPoint</Application>
  <PresentationFormat>Custom</PresentationFormat>
  <Paragraphs>349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Vipul Sharma</cp:lastModifiedBy>
  <cp:revision>9</cp:revision>
  <dcterms:created xsi:type="dcterms:W3CDTF">2013-01-27T09:14:16Z</dcterms:created>
  <dcterms:modified xsi:type="dcterms:W3CDTF">2026-10-29T03:31:13Z</dcterms:modified>
  <cp:category/>
</cp:coreProperties>
</file>